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6"/>
    <p:sldId id="266" r:id="rId17"/>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for the instructor, about two minutes. Start with the axes: read length on a log scale, one row per dataset, colour for the platform and open circles for RNA; the thick bar is the N50 and the dotted line the median. Then the claim: long DNA reads follow the length of the DNA molecule, but long RNA reads stop at the length of the transcript. The evidence: the Nanopore DNA reads have an N50 of 21.5 kilobases, while the Kinnex RNA reads stop at 2.2 kilobases, because the longest transcript in this locus is 2,250 nucleotides. So what: to cross a 6-kilobase duplicated block in DNA I would choose HiFi or Nanopore DNA reads; their limit is fewer reads and a higher cost per base than Illumina. The question I expect from the floor: why are the long RNA reads not 20 kilobases long? Because each RNA read is one copy of one transcript, so it cannot be longer than the transcript.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use this slide. Replace the grey text, paste your figure from the outputs folder, and keep everything else. You have two minutes: about 20 seconds for the claim, a minute for the evidence, and 40 seconds for the so what. The claim is one sentence with a direction that a classmate can check by looking at the figure. For the evidence, point at one part of the figure and quote one number from the CHECK output; say what the axes show first. For the so what, name the dataset you would choose for this kind of question and one thing it cannot do. The Q/A bar is the question you expect from the floor and your one-sentence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4860"/>
            <a:ext cx="5834261" cy="446980"/>
          </a:xfrm>
          <a:prstGeom prst="rect">
            <a:avLst/>
          </a:prstGeom>
          <a:noFill/>
          <a:ln/>
        </p:spPr>
        <p:txBody>
          <a:bodyPr wrap="square" lIns="0" tIns="0" rIns="0" bIns="0" rtlCol="0" anchor="t"/>
          <a:lstStyle>
            <a:lvl1pPr algn="l" indent="0" marL="0">
              <a:lnSpc>
                <a:spcPct val="115000"/>
              </a:lnSpc>
              <a:buNone/>
              <a:defRPr lang="en-US" sz="3200" dirty="0">
                <a:solidFill>
                  <a:srgbClr val="17202A"/>
                </a:solidFill>
                <a:latin typeface="SUIT" pitchFamily="34" charset="0"/>
                <a:ea typeface="SUIT" pitchFamily="34" charset="-122"/>
                <a:cs typeface="SUI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696641"/>
            <a:ext cx="10566400" cy="4348559"/>
          </a:xfrm>
          <a:prstGeom prst="rect">
            <a:avLst/>
          </a:prstGeom>
          <a:noFill/>
          <a:ln/>
        </p:spPr>
        <p:txBody>
          <a:bodyPr wrap="square" lIns="0" tIns="0" rIns="0" bIns="0" rtlCol="0" anchor="t"/>
          <a:lstStyle>
            <a:lvl1pPr algn="l" indent="0" marL="0">
              <a:lnSpc>
                <a:spcPct val="140000"/>
              </a:lnSpc>
              <a:buNone/>
              <a:defRPr lang="en-US" sz="1600" dirty="0">
                <a:solidFill>
                  <a:srgbClr val="17202A"/>
                </a:solidFill>
                <a:latin typeface="SUIT" pitchFamily="34" charset="0"/>
                <a:ea typeface="SUIT" pitchFamily="34" charset="-122"/>
                <a:cs typeface="SUI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4860"/>
            <a:ext cx="5834261" cy="446980"/>
          </a:xfrm>
          <a:prstGeom prst="rect">
            <a:avLst/>
          </a:prstGeom>
          <a:noFill/>
          <a:ln/>
        </p:spPr>
        <p:txBody>
          <a:bodyPr wrap="square" lIns="0" tIns="0" rIns="0" bIns="0" rtlCol="0" anchor="t"/>
          <a:lstStyle>
            <a:lvl1pPr algn="l" indent="0" marL="0">
              <a:lnSpc>
                <a:spcPct val="115000"/>
              </a:lnSpc>
              <a:buNone/>
              <a:defRPr lang="en-US" sz="3200" dirty="0">
                <a:solidFill>
                  <a:srgbClr val="17202A"/>
                </a:solidFill>
                <a:latin typeface="SUIT" pitchFamily="34" charset="0"/>
                <a:ea typeface="SUIT" pitchFamily="34" charset="-122"/>
                <a:cs typeface="SUI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696641"/>
            <a:ext cx="10566400" cy="4348559"/>
          </a:xfrm>
          <a:prstGeom prst="rect">
            <a:avLst/>
          </a:prstGeom>
          <a:noFill/>
          <a:ln/>
        </p:spPr>
        <p:txBody>
          <a:bodyPr wrap="square" lIns="0" tIns="0" rIns="0" bIns="0" rtlCol="0" anchor="t"/>
          <a:lstStyle>
            <a:lvl1pPr algn="l" indent="0" marL="0">
              <a:lnSpc>
                <a:spcPct val="140000"/>
              </a:lnSpc>
              <a:buNone/>
              <a:defRPr lang="en-US" sz="1600" dirty="0">
                <a:solidFill>
                  <a:srgbClr val="17202A"/>
                </a:solidFill>
                <a:latin typeface="SUIT" pitchFamily="34" charset="0"/>
                <a:ea typeface="SUIT" pitchFamily="34" charset="-122"/>
                <a:cs typeface="SUI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2"/>
          <p:cNvSpPr/>
          <p:nvPr/>
        </p:nvSpPr>
        <p:spPr>
          <a:xfrm>
            <a:off x="812800" y="707330"/>
            <a:ext cx="88900" cy="88900"/>
          </a:xfrm>
          <a:prstGeom prst="roundRect">
            <a:avLst>
              <a:gd name="adj" fmla="val 21429"/>
            </a:avLst>
          </a:prstGeom>
          <a:solidFill>
            <a:srgbClr val="1F5FEA"/>
          </a:solidFill>
          <a:ln/>
        </p:spPr>
      </p:sp>
      <p:sp>
        <p:nvSpPr>
          <p:cNvPr id="3" name="Text 3"/>
          <p:cNvSpPr/>
          <p:nvPr/>
        </p:nvSpPr>
        <p:spPr>
          <a:xfrm>
            <a:off x="990600" y="660400"/>
            <a:ext cx="3829050" cy="208260"/>
          </a:xfrm>
          <a:prstGeom prst="rect">
            <a:avLst/>
          </a:prstGeom>
          <a:noFill/>
          <a:ln/>
        </p:spPr>
        <p:txBody>
          <a:bodyPr wrap="square" lIns="0" tIns="0" rIns="0" bIns="0" rtlCol="0" anchor="t">
            <a:normAutofit/>
          </a:bodyPr>
          <a:lstStyle/>
          <a:p>
            <a:pPr algn="l" indent="0" marL="0">
              <a:lnSpc>
                <a:spcPts val="1440"/>
              </a:lnSpc>
              <a:buNone/>
            </a:pPr>
            <a:r>
              <a:rPr lang="en-US" sz="1200" b="1" spc="150" kern="0" dirty="0">
                <a:solidFill>
                  <a:srgbClr val="1F5FEA"/>
                </a:solidFill>
                <a:latin typeface="SUIT" pitchFamily="34" charset="0"/>
                <a:ea typeface="SUIT" pitchFamily="34" charset="-122"/>
                <a:cs typeface="SUIT" pitchFamily="34" charset="-120"/>
              </a:rPr>
              <a:t>LIGHTNING TALK · WORKED EXAMPLE</a:t>
            </a:r>
            <a:endParaRPr lang="en-US" sz="1200" dirty="0"/>
          </a:p>
        </p:txBody>
      </p:sp>
      <p:sp>
        <p:nvSpPr>
          <p:cNvPr id="4" name="Text 4"/>
          <p:cNvSpPr/>
          <p:nvPr>
            <p:ph type="title"/>
          </p:nvPr>
        </p:nvSpPr>
        <p:spPr>
          <a:xfrm>
            <a:off x="812800" y="944860"/>
            <a:ext cx="10881360"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A"/>
                </a:solidFill>
                <a:latin typeface="SUIT" pitchFamily="34" charset="0"/>
                <a:ea typeface="SUIT" pitchFamily="34" charset="-122"/>
                <a:cs typeface="SUIT" pitchFamily="34" charset="-120"/>
              </a:rPr>
              <a:t>F01 · Read length: six datasets</a:t>
            </a:r>
            <a:endParaRPr lang="en-US" sz="3200" dirty="0"/>
          </a:p>
        </p:txBody>
      </p:sp>
      <p:sp>
        <p:nvSpPr>
          <p:cNvPr id="5" name="Shape 5"/>
          <p:cNvSpPr/>
          <p:nvPr/>
        </p:nvSpPr>
        <p:spPr>
          <a:xfrm>
            <a:off x="813816" y="1627632"/>
            <a:ext cx="10570464" cy="1115568"/>
          </a:xfrm>
          <a:prstGeom prst="roundRect">
            <a:avLst>
              <a:gd name="adj" fmla="val 10104"/>
            </a:avLst>
          </a:prstGeom>
          <a:solidFill>
            <a:srgbClr val="EEF3FE"/>
          </a:solidFill>
          <a:ln w="6350">
            <a:solidFill>
              <a:srgbClr val="EEF3FE"/>
            </a:solidFill>
            <a:prstDash val="solid"/>
          </a:ln>
          <a:effectLst>
            <a:outerShdw sx="100000" sy="100000" kx="0" ky="0" algn="bl" rotWithShape="0" blurRad="203200" dist="76200" dir="5400000">
              <a:srgbClr val="1F5FEA">
                <a:alpha val="7000"/>
              </a:srgbClr>
            </a:outerShdw>
          </a:effectLst>
        </p:spPr>
      </p:sp>
      <p:sp>
        <p:nvSpPr>
          <p:cNvPr id="6" name="Text 6"/>
          <p:cNvSpPr/>
          <p:nvPr/>
        </p:nvSpPr>
        <p:spPr>
          <a:xfrm>
            <a:off x="1014984" y="1719072"/>
            <a:ext cx="1828800" cy="21945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EA"/>
                </a:solidFill>
                <a:latin typeface="SUIT" pitchFamily="34" charset="0"/>
                <a:ea typeface="SUIT" pitchFamily="34" charset="-122"/>
                <a:cs typeface="SUIT" pitchFamily="34" charset="-120"/>
              </a:rPr>
              <a:t>CLAIM</a:t>
            </a:r>
            <a:endParaRPr lang="en-US" sz="1200" dirty="0"/>
          </a:p>
        </p:txBody>
      </p:sp>
      <p:sp>
        <p:nvSpPr>
          <p:cNvPr id="7" name="Text 7"/>
          <p:cNvSpPr/>
          <p:nvPr/>
        </p:nvSpPr>
        <p:spPr>
          <a:xfrm>
            <a:off x="1014984" y="1938528"/>
            <a:ext cx="10168128" cy="667512"/>
          </a:xfrm>
          <a:prstGeom prst="rect">
            <a:avLst/>
          </a:prstGeom>
          <a:noFill/>
          <a:ln/>
        </p:spPr>
        <p:txBody>
          <a:bodyPr wrap="square" lIns="0" tIns="0" rIns="0" bIns="0" rtlCol="0" anchor="t">
            <a:normAutofit/>
          </a:bodyPr>
          <a:lstStyle/>
          <a:p>
            <a:pPr algn="l" indent="0" marL="0">
              <a:lnSpc>
                <a:spcPts val="2380"/>
              </a:lnSpc>
              <a:buNone/>
            </a:pPr>
            <a:r>
              <a:rPr lang="en-US" sz="1800" b="1" dirty="0">
                <a:solidFill>
                  <a:srgbClr val="17202A"/>
                </a:solidFill>
                <a:latin typeface="SUIT" pitchFamily="34" charset="0"/>
                <a:ea typeface="SUIT" pitchFamily="34" charset="-122"/>
                <a:cs typeface="SUIT" pitchFamily="34" charset="-120"/>
              </a:rPr>
              <a:t>Long DNA reads follow the length of the DNA molecule, but long RNA reads stop at the length of the transcript.</a:t>
            </a:r>
            <a:endParaRPr lang="en-US" sz="1800" dirty="0"/>
          </a:p>
        </p:txBody>
      </p:sp>
      <p:sp>
        <p:nvSpPr>
          <p:cNvPr id="8" name="Shape 8"/>
          <p:cNvSpPr/>
          <p:nvPr/>
        </p:nvSpPr>
        <p:spPr>
          <a:xfrm>
            <a:off x="813816" y="2889504"/>
            <a:ext cx="4771136" cy="2779776"/>
          </a:xfrm>
          <a:prstGeom prst="roundRect">
            <a:avLst>
              <a:gd name="adj" fmla="val 3411"/>
            </a:avLst>
          </a:prstGeom>
          <a:solidFill>
            <a:srgbClr val="FFFFFF"/>
          </a:solidFill>
          <a:ln w="6350">
            <a:solidFill>
              <a:srgbClr val="E4ECFB"/>
            </a:solidFill>
            <a:prstDash val="solid"/>
          </a:ln>
        </p:spPr>
      </p:sp>
      <p:pic>
        <p:nvPicPr>
          <p:cNvPr id="9" name="Picture 8" descr="F01 · Read length: six datasets"/>
          <p:cNvPicPr>
            <a:picLocks noChangeAspect="1"/>
          </p:cNvPicPr>
          <p:nvPr/>
        </p:nvPicPr>
        <p:blipFill>
          <a:blip r:embed="rId2"/>
          <a:stretch>
            <a:fillRect/>
          </a:stretch>
        </p:blipFill>
        <p:spPr>
          <a:xfrm>
            <a:off x="923544" y="2999232"/>
            <a:ext cx="4551680" cy="2560320"/>
          </a:xfrm>
          <a:prstGeom prst="roundRect">
            <a:avLst>
              <a:gd name="adj" fmla="val 2083"/>
            </a:avLst>
          </a:prstGeom>
        </p:spPr>
      </p:pic>
      <p:sp>
        <p:nvSpPr>
          <p:cNvPr id="10" name="Shape 10"/>
          <p:cNvSpPr/>
          <p:nvPr/>
        </p:nvSpPr>
        <p:spPr>
          <a:xfrm>
            <a:off x="5859272" y="2889504"/>
            <a:ext cx="5525008" cy="853440"/>
          </a:xfrm>
          <a:prstGeom prst="roundRect">
            <a:avLst>
              <a:gd name="adj" fmla="val 10104"/>
            </a:avLst>
          </a:prstGeom>
          <a:solidFill>
            <a:srgbClr val="FFFFFF"/>
          </a:solidFill>
          <a:ln w="6350">
            <a:solidFill>
              <a:srgbClr val="E4ECFB"/>
            </a:solidFill>
            <a:prstDash val="solid"/>
          </a:ln>
          <a:effectLst>
            <a:outerShdw sx="100000" sy="100000" kx="0" ky="0" algn="bl" rotWithShape="0" blurRad="203200" dist="76200" dir="5400000">
              <a:srgbClr val="1F5FEA">
                <a:alpha val="7000"/>
              </a:srgbClr>
            </a:outerShdw>
          </a:effectLst>
        </p:spPr>
      </p:sp>
      <p:sp>
        <p:nvSpPr>
          <p:cNvPr id="11" name="Text 11"/>
          <p:cNvSpPr/>
          <p:nvPr/>
        </p:nvSpPr>
        <p:spPr>
          <a:xfrm>
            <a:off x="6023864" y="2971800"/>
            <a:ext cx="5195824" cy="2743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02A"/>
                </a:solidFill>
                <a:latin typeface="SUIT" pitchFamily="34" charset="0"/>
                <a:ea typeface="SUIT" pitchFamily="34" charset="-122"/>
                <a:cs typeface="SUIT" pitchFamily="34" charset="-120"/>
              </a:rPr>
              <a:t>1 · Axes and colours</a:t>
            </a:r>
            <a:endParaRPr lang="en-US" sz="1500" dirty="0"/>
          </a:p>
        </p:txBody>
      </p:sp>
      <p:sp>
        <p:nvSpPr>
          <p:cNvPr id="12" name="Text 12"/>
          <p:cNvSpPr/>
          <p:nvPr/>
        </p:nvSpPr>
        <p:spPr>
          <a:xfrm>
            <a:off x="6023864" y="3273552"/>
            <a:ext cx="5195824" cy="43891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573"/>
                </a:solidFill>
                <a:latin typeface="SUIT" pitchFamily="34" charset="0"/>
                <a:ea typeface="SUIT" pitchFamily="34" charset="-122"/>
                <a:cs typeface="SUIT" pitchFamily="34" charset="-120"/>
              </a:rPr>
              <a:t>Read length on a log scale, one row per dataset. Colour = platform; open circles = RNA; bar = N50, dotted = median.</a:t>
            </a:r>
            <a:endParaRPr lang="en-US" sz="1200" dirty="0"/>
          </a:p>
        </p:txBody>
      </p:sp>
      <p:sp>
        <p:nvSpPr>
          <p:cNvPr id="13" name="Shape 13"/>
          <p:cNvSpPr/>
          <p:nvPr/>
        </p:nvSpPr>
        <p:spPr>
          <a:xfrm>
            <a:off x="5859272" y="3852672"/>
            <a:ext cx="5525008" cy="853440"/>
          </a:xfrm>
          <a:prstGeom prst="roundRect">
            <a:avLst>
              <a:gd name="adj" fmla="val 10104"/>
            </a:avLst>
          </a:prstGeom>
          <a:solidFill>
            <a:srgbClr val="FFFFFF"/>
          </a:solidFill>
          <a:ln w="6350">
            <a:solidFill>
              <a:srgbClr val="E4ECFB"/>
            </a:solidFill>
            <a:prstDash val="solid"/>
          </a:ln>
          <a:effectLst>
            <a:outerShdw sx="100000" sy="100000" kx="0" ky="0" algn="bl" rotWithShape="0" blurRad="203200" dist="76200" dir="5400000">
              <a:srgbClr val="1F5FEA">
                <a:alpha val="7000"/>
              </a:srgbClr>
            </a:outerShdw>
          </a:effectLst>
        </p:spPr>
      </p:sp>
      <p:sp>
        <p:nvSpPr>
          <p:cNvPr id="14" name="Text 14"/>
          <p:cNvSpPr/>
          <p:nvPr/>
        </p:nvSpPr>
        <p:spPr>
          <a:xfrm>
            <a:off x="6023864" y="3934968"/>
            <a:ext cx="5195824" cy="2743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02A"/>
                </a:solidFill>
                <a:latin typeface="SUIT" pitchFamily="34" charset="0"/>
                <a:ea typeface="SUIT" pitchFamily="34" charset="-122"/>
                <a:cs typeface="SUIT" pitchFamily="34" charset="-120"/>
              </a:rPr>
              <a:t>2 · Evidence: one number</a:t>
            </a:r>
            <a:endParaRPr lang="en-US" sz="1500" dirty="0"/>
          </a:p>
        </p:txBody>
      </p:sp>
      <p:sp>
        <p:nvSpPr>
          <p:cNvPr id="15" name="Text 15"/>
          <p:cNvSpPr/>
          <p:nvPr/>
        </p:nvSpPr>
        <p:spPr>
          <a:xfrm>
            <a:off x="6023864" y="4236720"/>
            <a:ext cx="5195824" cy="43891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573"/>
                </a:solidFill>
                <a:latin typeface="SUIT" pitchFamily="34" charset="0"/>
                <a:ea typeface="SUIT" pitchFamily="34" charset="-122"/>
                <a:cs typeface="SUIT" pitchFamily="34" charset="-120"/>
              </a:rPr>
              <a:t>Nanopore DNA reads have an N50 of 21.5 kb; Kinnex RNA reads stop at 2.2 kb, the longest transcript here (2,250 nt).</a:t>
            </a:r>
            <a:endParaRPr lang="en-US" sz="1200" dirty="0"/>
          </a:p>
        </p:txBody>
      </p:sp>
      <p:sp>
        <p:nvSpPr>
          <p:cNvPr id="16" name="Shape 16"/>
          <p:cNvSpPr/>
          <p:nvPr/>
        </p:nvSpPr>
        <p:spPr>
          <a:xfrm>
            <a:off x="5859272" y="4815840"/>
            <a:ext cx="5525008" cy="853440"/>
          </a:xfrm>
          <a:prstGeom prst="roundRect">
            <a:avLst>
              <a:gd name="adj" fmla="val 10104"/>
            </a:avLst>
          </a:prstGeom>
          <a:solidFill>
            <a:srgbClr val="FFFFFF"/>
          </a:solidFill>
          <a:ln w="6350">
            <a:solidFill>
              <a:srgbClr val="E4ECFB"/>
            </a:solidFill>
            <a:prstDash val="solid"/>
          </a:ln>
          <a:effectLst>
            <a:outerShdw sx="100000" sy="100000" kx="0" ky="0" algn="bl" rotWithShape="0" blurRad="203200" dist="76200" dir="5400000">
              <a:srgbClr val="1F5FEA">
                <a:alpha val="7000"/>
              </a:srgbClr>
            </a:outerShdw>
          </a:effectLst>
        </p:spPr>
      </p:sp>
      <p:sp>
        <p:nvSpPr>
          <p:cNvPr id="17" name="Text 17"/>
          <p:cNvSpPr/>
          <p:nvPr/>
        </p:nvSpPr>
        <p:spPr>
          <a:xfrm>
            <a:off x="6023864" y="4898136"/>
            <a:ext cx="5195824" cy="2743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02A"/>
                </a:solidFill>
                <a:latin typeface="SUIT" pitchFamily="34" charset="0"/>
                <a:ea typeface="SUIT" pitchFamily="34" charset="-122"/>
                <a:cs typeface="SUIT" pitchFamily="34" charset="-120"/>
              </a:rPr>
              <a:t>3 · So what: choice and one limit</a:t>
            </a:r>
            <a:endParaRPr lang="en-US" sz="1500" dirty="0"/>
          </a:p>
        </p:txBody>
      </p:sp>
      <p:sp>
        <p:nvSpPr>
          <p:cNvPr id="18" name="Text 18"/>
          <p:cNvSpPr/>
          <p:nvPr/>
        </p:nvSpPr>
        <p:spPr>
          <a:xfrm>
            <a:off x="6023864" y="5199888"/>
            <a:ext cx="5195824" cy="43891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573"/>
                </a:solidFill>
                <a:latin typeface="SUIT" pitchFamily="34" charset="0"/>
                <a:ea typeface="SUIT" pitchFamily="34" charset="-122"/>
                <a:cs typeface="SUIT" pitchFamily="34" charset="-120"/>
              </a:rPr>
              <a:t>To cross a 6-kb duplicated block in DNA, choose HiFi or Nanopore DNA. Limit: fewer reads, higher cost per base than Illumina.</a:t>
            </a:r>
            <a:endParaRPr lang="en-US" sz="1200" dirty="0"/>
          </a:p>
        </p:txBody>
      </p:sp>
      <p:sp>
        <p:nvSpPr>
          <p:cNvPr id="19" name="Text 19"/>
          <p:cNvSpPr/>
          <p:nvPr/>
        </p:nvSpPr>
        <p:spPr>
          <a:xfrm>
            <a:off x="812800" y="5867400"/>
            <a:ext cx="10883392" cy="240010"/>
          </a:xfrm>
          <a:prstGeom prst="rect">
            <a:avLst/>
          </a:prstGeom>
          <a:noFill/>
          <a:ln/>
        </p:spPr>
        <p:txBody>
          <a:bodyPr wrap="none" lIns="0" tIns="0" rIns="0" bIns="0" rtlCol="0" anchor="t">
            <a:normAutofit/>
          </a:bodyPr>
          <a:lstStyle/>
          <a:p>
            <a:pPr algn="l" indent="0" marL="0">
              <a:lnSpc>
                <a:spcPts val="1690"/>
              </a:lnSpc>
              <a:buNone/>
            </a:pPr>
            <a:r>
              <a:rPr lang="en-US" sz="1300" b="1" dirty="0">
                <a:solidFill>
                  <a:srgbClr val="17202A"/>
                </a:solidFill>
                <a:latin typeface="SUIT" pitchFamily="34" charset="0"/>
                <a:ea typeface="SUIT" pitchFamily="34" charset="-122"/>
                <a:cs typeface="SUIT" pitchFamily="34" charset="-120"/>
              </a:rPr>
              <a:t>Q.</a:t>
            </a:r>
            <a:r>
              <a:rPr lang="en-US" sz="1300" b="1" dirty="0">
                <a:solidFill>
                  <a:srgbClr val="17202A"/>
                </a:solidFill>
                <a:latin typeface="SUIT" pitchFamily="34" charset="0"/>
                <a:ea typeface="SUIT" pitchFamily="34" charset="-122"/>
                <a:cs typeface="SUIT" pitchFamily="34" charset="-120"/>
              </a:rPr>
              <a:t> Why are the long RNA reads not 20 kb long, like the long DNA reads?</a:t>
            </a:r>
            <a:endParaRPr lang="en-US" sz="1300" dirty="0"/>
          </a:p>
        </p:txBody>
      </p:sp>
      <p:sp>
        <p:nvSpPr>
          <p:cNvPr id="20" name="Shape 20"/>
          <p:cNvSpPr/>
          <p:nvPr/>
        </p:nvSpPr>
        <p:spPr>
          <a:xfrm>
            <a:off x="812800" y="6134100"/>
            <a:ext cx="10566400" cy="349250"/>
          </a:xfrm>
          <a:prstGeom prst="roundRect">
            <a:avLst>
              <a:gd name="adj" fmla="val 25455"/>
            </a:avLst>
          </a:prstGeom>
          <a:solidFill>
            <a:srgbClr val="1F5FEA"/>
          </a:solidFill>
          <a:ln/>
        </p:spPr>
      </p:sp>
      <p:sp>
        <p:nvSpPr>
          <p:cNvPr id="21" name="Text 21"/>
          <p:cNvSpPr/>
          <p:nvPr/>
        </p:nvSpPr>
        <p:spPr>
          <a:xfrm>
            <a:off x="965200" y="6197600"/>
            <a:ext cx="234255"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FFF"/>
                </a:solidFill>
                <a:latin typeface="SUIT" pitchFamily="34" charset="0"/>
                <a:ea typeface="SUIT" pitchFamily="34" charset="-122"/>
                <a:cs typeface="SUIT" pitchFamily="34" charset="-120"/>
              </a:rPr>
              <a:t>A.</a:t>
            </a:r>
            <a:endParaRPr lang="en-US" sz="1300" dirty="0"/>
          </a:p>
        </p:txBody>
      </p:sp>
      <p:sp>
        <p:nvSpPr>
          <p:cNvPr id="22" name="Text 22"/>
          <p:cNvSpPr/>
          <p:nvPr/>
        </p:nvSpPr>
        <p:spPr>
          <a:xfrm>
            <a:off x="1237555" y="6197600"/>
            <a:ext cx="10288922"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FFF"/>
                </a:solidFill>
                <a:latin typeface="SUIT" pitchFamily="34" charset="0"/>
                <a:ea typeface="SUIT" pitchFamily="34" charset="-122"/>
                <a:cs typeface="SUIT" pitchFamily="34" charset="-120"/>
              </a:rPr>
              <a:t>Each RNA read is one copy of one transcript, so it cannot be longer than the transcript: at most 2,250 nt here.</a:t>
            </a:r>
            <a:endParaRPr lang="en-US" sz="1300" dirty="0"/>
          </a:p>
        </p:txBody>
      </p:sp>
      <p:sp>
        <p:nvSpPr>
          <p:cNvPr id="23" name="Text 23"/>
          <p:cNvSpPr/>
          <p:nvPr/>
        </p:nvSpPr>
        <p:spPr>
          <a:xfrm>
            <a:off x="812800" y="6548140"/>
            <a:ext cx="384048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8A93A0"/>
                </a:solidFill>
                <a:latin typeface="SUIT" pitchFamily="34" charset="0"/>
                <a:ea typeface="SUIT" pitchFamily="34" charset="-122"/>
                <a:cs typeface="SUIT" pitchFamily="34" charset="-120"/>
              </a:rPr>
              <a:t>Pair: instructor · Figure F01 · Practice 3, synthetic data</a:t>
            </a:r>
            <a:endParaRPr lang="en-US" sz="1200" dirty="0"/>
          </a:p>
        </p:txBody>
      </p:sp>
      <p:sp>
        <p:nvSpPr>
          <p:cNvPr id="24" name="Text 24"/>
          <p:cNvSpPr/>
          <p:nvPr/>
        </p:nvSpPr>
        <p:spPr>
          <a:xfrm>
            <a:off x="10601960" y="6548140"/>
            <a:ext cx="777240" cy="208260"/>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8A93A0"/>
                </a:solidFill>
                <a:latin typeface="SUIT" pitchFamily="34" charset="0"/>
                <a:ea typeface="SUIT" pitchFamily="34" charset="-122"/>
                <a:cs typeface="SUIT" pitchFamily="34" charset="-120"/>
              </a:rPr>
              <a:t>01 / 2</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Shape 2"/>
          <p:cNvSpPr/>
          <p:nvPr/>
        </p:nvSpPr>
        <p:spPr>
          <a:xfrm>
            <a:off x="812800" y="707330"/>
            <a:ext cx="88900" cy="88900"/>
          </a:xfrm>
          <a:prstGeom prst="roundRect">
            <a:avLst>
              <a:gd name="adj" fmla="val 21429"/>
            </a:avLst>
          </a:prstGeom>
          <a:solidFill>
            <a:srgbClr val="1F5FEA"/>
          </a:solidFill>
          <a:ln/>
        </p:spPr>
      </p:sp>
      <p:sp>
        <p:nvSpPr>
          <p:cNvPr id="3" name="Text 3"/>
          <p:cNvSpPr/>
          <p:nvPr/>
        </p:nvSpPr>
        <p:spPr>
          <a:xfrm>
            <a:off x="990600" y="660400"/>
            <a:ext cx="2575560" cy="208260"/>
          </a:xfrm>
          <a:prstGeom prst="rect">
            <a:avLst/>
          </a:prstGeom>
          <a:noFill/>
          <a:ln/>
        </p:spPr>
        <p:txBody>
          <a:bodyPr wrap="square" lIns="0" tIns="0" rIns="0" bIns="0" rtlCol="0" anchor="t">
            <a:normAutofit/>
          </a:bodyPr>
          <a:lstStyle/>
          <a:p>
            <a:pPr algn="l" indent="0" marL="0">
              <a:lnSpc>
                <a:spcPts val="1440"/>
              </a:lnSpc>
              <a:buNone/>
            </a:pPr>
            <a:r>
              <a:rPr lang="en-US" sz="1200" b="1" spc="150" kern="0" dirty="0">
                <a:solidFill>
                  <a:srgbClr val="1F5FEA"/>
                </a:solidFill>
                <a:latin typeface="SUIT" pitchFamily="34" charset="0"/>
                <a:ea typeface="SUIT" pitchFamily="34" charset="-122"/>
                <a:cs typeface="SUIT" pitchFamily="34" charset="-120"/>
              </a:rPr>
              <a:t>LIGHTNING TALK · 2 MIN</a:t>
            </a:r>
            <a:endParaRPr lang="en-US" sz="1200" dirty="0"/>
          </a:p>
        </p:txBody>
      </p:sp>
      <p:sp>
        <p:nvSpPr>
          <p:cNvPr id="4" name="Text 4"/>
          <p:cNvSpPr/>
          <p:nvPr>
            <p:ph type="title"/>
          </p:nvPr>
        </p:nvSpPr>
        <p:spPr>
          <a:xfrm>
            <a:off x="812800" y="944860"/>
            <a:ext cx="10881360"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7202A"/>
                </a:solidFill>
                <a:latin typeface="SUIT" pitchFamily="34" charset="0"/>
                <a:ea typeface="SUIT" pitchFamily="34" charset="-122"/>
                <a:cs typeface="SUIT" pitchFamily="34" charset="-120"/>
              </a:rPr>
              <a:t>F__ · The title of your figure</a:t>
            </a:r>
            <a:endParaRPr lang="en-US" sz="3200" dirty="0"/>
          </a:p>
        </p:txBody>
      </p:sp>
      <p:sp>
        <p:nvSpPr>
          <p:cNvPr id="5" name="Shape 5"/>
          <p:cNvSpPr/>
          <p:nvPr/>
        </p:nvSpPr>
        <p:spPr>
          <a:xfrm>
            <a:off x="813816" y="1627632"/>
            <a:ext cx="10570464" cy="795528"/>
          </a:xfrm>
          <a:prstGeom prst="roundRect">
            <a:avLst>
              <a:gd name="adj" fmla="val 10104"/>
            </a:avLst>
          </a:prstGeom>
          <a:solidFill>
            <a:srgbClr val="EEF3FE"/>
          </a:solidFill>
          <a:ln w="6350">
            <a:solidFill>
              <a:srgbClr val="EEF3FE"/>
            </a:solidFill>
            <a:prstDash val="solid"/>
          </a:ln>
          <a:effectLst>
            <a:outerShdw sx="100000" sy="100000" kx="0" ky="0" algn="bl" rotWithShape="0" blurRad="203200" dist="76200" dir="5400000">
              <a:srgbClr val="1F5FEA">
                <a:alpha val="7000"/>
              </a:srgbClr>
            </a:outerShdw>
          </a:effectLst>
        </p:spPr>
      </p:sp>
      <p:sp>
        <p:nvSpPr>
          <p:cNvPr id="6" name="Text 6"/>
          <p:cNvSpPr/>
          <p:nvPr/>
        </p:nvSpPr>
        <p:spPr>
          <a:xfrm>
            <a:off x="1014984" y="1719072"/>
            <a:ext cx="1828800" cy="21945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EA"/>
                </a:solidFill>
                <a:latin typeface="SUIT" pitchFamily="34" charset="0"/>
                <a:ea typeface="SUIT" pitchFamily="34" charset="-122"/>
                <a:cs typeface="SUIT" pitchFamily="34" charset="-120"/>
              </a:rPr>
              <a:t>CLAIM</a:t>
            </a:r>
            <a:endParaRPr lang="en-US" sz="1200" dirty="0"/>
          </a:p>
        </p:txBody>
      </p:sp>
      <p:sp>
        <p:nvSpPr>
          <p:cNvPr id="7" name="Text 7"/>
          <p:cNvSpPr/>
          <p:nvPr/>
        </p:nvSpPr>
        <p:spPr>
          <a:xfrm>
            <a:off x="1014984" y="1938528"/>
            <a:ext cx="10168128" cy="347472"/>
          </a:xfrm>
          <a:prstGeom prst="rect">
            <a:avLst/>
          </a:prstGeom>
          <a:noFill/>
          <a:ln/>
        </p:spPr>
        <p:txBody>
          <a:bodyPr wrap="square" lIns="0" tIns="0" rIns="0" bIns="0" rtlCol="0" anchor="t">
            <a:normAutofit/>
          </a:bodyPr>
          <a:lstStyle/>
          <a:p>
            <a:pPr algn="l" indent="0" marL="0">
              <a:lnSpc>
                <a:spcPts val="2380"/>
              </a:lnSpc>
              <a:buNone/>
            </a:pPr>
            <a:r>
              <a:rPr lang="en-US" sz="1800" b="1" dirty="0">
                <a:solidFill>
                  <a:srgbClr val="5B6573"/>
                </a:solidFill>
                <a:latin typeface="SUIT" pitchFamily="34" charset="0"/>
                <a:ea typeface="SUIT" pitchFamily="34" charset="-122"/>
                <a:cs typeface="SUIT" pitchFamily="34" charset="-120"/>
              </a:rPr>
              <a:t>Your claim: one sentence that a classmate can check against the figure</a:t>
            </a:r>
            <a:endParaRPr lang="en-US" sz="1800" dirty="0"/>
          </a:p>
        </p:txBody>
      </p:sp>
      <p:sp>
        <p:nvSpPr>
          <p:cNvPr id="8" name="Shape 8"/>
          <p:cNvSpPr/>
          <p:nvPr/>
        </p:nvSpPr>
        <p:spPr>
          <a:xfrm>
            <a:off x="813816" y="2569464"/>
            <a:ext cx="5340096" cy="3099816"/>
          </a:xfrm>
          <a:prstGeom prst="roundRect">
            <a:avLst>
              <a:gd name="adj" fmla="val 10104"/>
            </a:avLst>
          </a:prstGeom>
          <a:solidFill>
            <a:srgbClr val="EEF3FE"/>
          </a:solidFill>
          <a:ln w="6350">
            <a:solidFill>
              <a:srgbClr val="EEF3FE"/>
            </a:solidFill>
            <a:prstDash val="solid"/>
          </a:ln>
          <a:effectLst>
            <a:outerShdw sx="100000" sy="100000" kx="0" ky="0" algn="bl" rotWithShape="0" blurRad="203200" dist="76200" dir="5400000">
              <a:srgbClr val="1F5FEA">
                <a:alpha val="7000"/>
              </a:srgbClr>
            </a:outerShdw>
          </a:effectLst>
        </p:spPr>
      </p:sp>
      <p:sp>
        <p:nvSpPr>
          <p:cNvPr id="9" name="Text 9"/>
          <p:cNvSpPr/>
          <p:nvPr/>
        </p:nvSpPr>
        <p:spPr>
          <a:xfrm>
            <a:off x="1225296" y="3790188"/>
            <a:ext cx="4517136" cy="489712"/>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B6573"/>
                </a:solidFill>
                <a:latin typeface="SUIT" pitchFamily="34" charset="0"/>
                <a:ea typeface="SUIT" pitchFamily="34" charset="-122"/>
                <a:cs typeface="SUIT" pitchFamily="34" charset="-120"/>
              </a:rPr>
              <a:t>Paste your figure here (outputs/practice3_F__ ... .png), then delete this box</a:t>
            </a:r>
            <a:endParaRPr lang="en-US" sz="1300" dirty="0"/>
          </a:p>
        </p:txBody>
      </p:sp>
      <p:sp>
        <p:nvSpPr>
          <p:cNvPr id="10" name="Shape 10"/>
          <p:cNvSpPr/>
          <p:nvPr/>
        </p:nvSpPr>
        <p:spPr>
          <a:xfrm>
            <a:off x="6428232" y="2569464"/>
            <a:ext cx="4956048" cy="960120"/>
          </a:xfrm>
          <a:prstGeom prst="roundRect">
            <a:avLst>
              <a:gd name="adj" fmla="val 10104"/>
            </a:avLst>
          </a:prstGeom>
          <a:solidFill>
            <a:srgbClr val="FFFFFF"/>
          </a:solidFill>
          <a:ln w="6350">
            <a:solidFill>
              <a:srgbClr val="E4ECFB"/>
            </a:solidFill>
            <a:prstDash val="solid"/>
          </a:ln>
          <a:effectLst>
            <a:outerShdw sx="100000" sy="100000" kx="0" ky="0" algn="bl" rotWithShape="0" blurRad="203200" dist="76200" dir="5400000">
              <a:srgbClr val="1F5FEA">
                <a:alpha val="7000"/>
              </a:srgbClr>
            </a:outerShdw>
          </a:effectLst>
        </p:spPr>
      </p:sp>
      <p:sp>
        <p:nvSpPr>
          <p:cNvPr id="11" name="Text 11"/>
          <p:cNvSpPr/>
          <p:nvPr/>
        </p:nvSpPr>
        <p:spPr>
          <a:xfrm>
            <a:off x="6592824" y="2651760"/>
            <a:ext cx="4626864" cy="2743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02A"/>
                </a:solidFill>
                <a:latin typeface="SUIT" pitchFamily="34" charset="0"/>
                <a:ea typeface="SUIT" pitchFamily="34" charset="-122"/>
                <a:cs typeface="SUIT" pitchFamily="34" charset="-120"/>
              </a:rPr>
              <a:t>1 · Axes and colours</a:t>
            </a:r>
            <a:endParaRPr lang="en-US" sz="1500" dirty="0"/>
          </a:p>
        </p:txBody>
      </p:sp>
      <p:sp>
        <p:nvSpPr>
          <p:cNvPr id="12" name="Text 12"/>
          <p:cNvSpPr/>
          <p:nvPr/>
        </p:nvSpPr>
        <p:spPr>
          <a:xfrm>
            <a:off x="6592824" y="2953512"/>
            <a:ext cx="4626864" cy="23317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573"/>
                </a:solidFill>
                <a:latin typeface="SUIT" pitchFamily="34" charset="0"/>
                <a:ea typeface="SUIT" pitchFamily="34" charset="-122"/>
                <a:cs typeface="SUIT" pitchFamily="34" charset="-120"/>
              </a:rPr>
              <a:t>What is on each axis? What do the colours and line styles mean?</a:t>
            </a:r>
            <a:endParaRPr lang="en-US" sz="1200" dirty="0"/>
          </a:p>
        </p:txBody>
      </p:sp>
      <p:sp>
        <p:nvSpPr>
          <p:cNvPr id="13" name="Shape 13"/>
          <p:cNvSpPr/>
          <p:nvPr/>
        </p:nvSpPr>
        <p:spPr>
          <a:xfrm>
            <a:off x="6428232" y="3639312"/>
            <a:ext cx="4956048" cy="960120"/>
          </a:xfrm>
          <a:prstGeom prst="roundRect">
            <a:avLst>
              <a:gd name="adj" fmla="val 10104"/>
            </a:avLst>
          </a:prstGeom>
          <a:solidFill>
            <a:srgbClr val="FFFFFF"/>
          </a:solidFill>
          <a:ln w="6350">
            <a:solidFill>
              <a:srgbClr val="E4ECFB"/>
            </a:solidFill>
            <a:prstDash val="solid"/>
          </a:ln>
          <a:effectLst>
            <a:outerShdw sx="100000" sy="100000" kx="0" ky="0" algn="bl" rotWithShape="0" blurRad="203200" dist="76200" dir="5400000">
              <a:srgbClr val="1F5FEA">
                <a:alpha val="7000"/>
              </a:srgbClr>
            </a:outerShdw>
          </a:effectLst>
        </p:spPr>
      </p:sp>
      <p:sp>
        <p:nvSpPr>
          <p:cNvPr id="14" name="Text 14"/>
          <p:cNvSpPr/>
          <p:nvPr/>
        </p:nvSpPr>
        <p:spPr>
          <a:xfrm>
            <a:off x="6592824" y="3721608"/>
            <a:ext cx="4626864" cy="2743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02A"/>
                </a:solidFill>
                <a:latin typeface="SUIT" pitchFamily="34" charset="0"/>
                <a:ea typeface="SUIT" pitchFamily="34" charset="-122"/>
                <a:cs typeface="SUIT" pitchFamily="34" charset="-120"/>
              </a:rPr>
              <a:t>2 · Evidence: one number</a:t>
            </a:r>
            <a:endParaRPr lang="en-US" sz="1500" dirty="0"/>
          </a:p>
        </p:txBody>
      </p:sp>
      <p:sp>
        <p:nvSpPr>
          <p:cNvPr id="15" name="Text 15"/>
          <p:cNvSpPr/>
          <p:nvPr/>
        </p:nvSpPr>
        <p:spPr>
          <a:xfrm>
            <a:off x="6592824" y="4023360"/>
            <a:ext cx="4626864" cy="43891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573"/>
                </a:solidFill>
                <a:latin typeface="SUIT" pitchFamily="34" charset="0"/>
                <a:ea typeface="SUIT" pitchFamily="34" charset="-122"/>
                <a:cs typeface="SUIT" pitchFamily="34" charset="-120"/>
              </a:rPr>
              <a:t>Point at one part of the figure. Quote one number from the CHECK output.</a:t>
            </a:r>
            <a:endParaRPr lang="en-US" sz="1200" dirty="0"/>
          </a:p>
        </p:txBody>
      </p:sp>
      <p:sp>
        <p:nvSpPr>
          <p:cNvPr id="16" name="Shape 16"/>
          <p:cNvSpPr/>
          <p:nvPr/>
        </p:nvSpPr>
        <p:spPr>
          <a:xfrm>
            <a:off x="6428232" y="4709160"/>
            <a:ext cx="4956048" cy="960120"/>
          </a:xfrm>
          <a:prstGeom prst="roundRect">
            <a:avLst>
              <a:gd name="adj" fmla="val 10104"/>
            </a:avLst>
          </a:prstGeom>
          <a:solidFill>
            <a:srgbClr val="FFFFFF"/>
          </a:solidFill>
          <a:ln w="6350">
            <a:solidFill>
              <a:srgbClr val="E4ECFB"/>
            </a:solidFill>
            <a:prstDash val="solid"/>
          </a:ln>
          <a:effectLst>
            <a:outerShdw sx="100000" sy="100000" kx="0" ky="0" algn="bl" rotWithShape="0" blurRad="203200" dist="76200" dir="5400000">
              <a:srgbClr val="1F5FEA">
                <a:alpha val="7000"/>
              </a:srgbClr>
            </a:outerShdw>
          </a:effectLst>
        </p:spPr>
      </p:sp>
      <p:sp>
        <p:nvSpPr>
          <p:cNvPr id="17" name="Text 17"/>
          <p:cNvSpPr/>
          <p:nvPr/>
        </p:nvSpPr>
        <p:spPr>
          <a:xfrm>
            <a:off x="6592824" y="4791456"/>
            <a:ext cx="4626864" cy="2743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02A"/>
                </a:solidFill>
                <a:latin typeface="SUIT" pitchFamily="34" charset="0"/>
                <a:ea typeface="SUIT" pitchFamily="34" charset="-122"/>
                <a:cs typeface="SUIT" pitchFamily="34" charset="-120"/>
              </a:rPr>
              <a:t>3 · So what: choice and one limit</a:t>
            </a:r>
            <a:endParaRPr lang="en-US" sz="1500" dirty="0"/>
          </a:p>
        </p:txBody>
      </p:sp>
      <p:sp>
        <p:nvSpPr>
          <p:cNvPr id="18" name="Text 18"/>
          <p:cNvSpPr/>
          <p:nvPr/>
        </p:nvSpPr>
        <p:spPr>
          <a:xfrm>
            <a:off x="6592824" y="5093208"/>
            <a:ext cx="4626864" cy="43891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573"/>
                </a:solidFill>
                <a:latin typeface="SUIT" pitchFamily="34" charset="0"/>
                <a:ea typeface="SUIT" pitchFamily="34" charset="-122"/>
                <a:cs typeface="SUIT" pitchFamily="34" charset="-120"/>
              </a:rPr>
              <a:t>Which dataset would you choose for this question, and what can it not do?</a:t>
            </a:r>
            <a:endParaRPr lang="en-US" sz="1200" dirty="0"/>
          </a:p>
        </p:txBody>
      </p:sp>
      <p:sp>
        <p:nvSpPr>
          <p:cNvPr id="19" name="Text 19"/>
          <p:cNvSpPr/>
          <p:nvPr/>
        </p:nvSpPr>
        <p:spPr>
          <a:xfrm>
            <a:off x="812800" y="5867400"/>
            <a:ext cx="10883392" cy="240010"/>
          </a:xfrm>
          <a:prstGeom prst="rect">
            <a:avLst/>
          </a:prstGeom>
          <a:noFill/>
          <a:ln/>
        </p:spPr>
        <p:txBody>
          <a:bodyPr wrap="none" lIns="0" tIns="0" rIns="0" bIns="0" rtlCol="0" anchor="t">
            <a:normAutofit/>
          </a:bodyPr>
          <a:lstStyle/>
          <a:p>
            <a:pPr algn="l" indent="0" marL="0">
              <a:lnSpc>
                <a:spcPts val="1690"/>
              </a:lnSpc>
              <a:buNone/>
            </a:pPr>
            <a:r>
              <a:rPr lang="en-US" sz="1300" b="1" dirty="0">
                <a:solidFill>
                  <a:srgbClr val="17202A"/>
                </a:solidFill>
                <a:latin typeface="SUIT" pitchFamily="34" charset="0"/>
                <a:ea typeface="SUIT" pitchFamily="34" charset="-122"/>
                <a:cs typeface="SUIT" pitchFamily="34" charset="-120"/>
              </a:rPr>
              <a:t>Q.</a:t>
            </a:r>
            <a:r>
              <a:rPr lang="en-US" sz="1300" b="1" dirty="0">
                <a:solidFill>
                  <a:srgbClr val="17202A"/>
                </a:solidFill>
                <a:latin typeface="SUIT" pitchFamily="34" charset="0"/>
                <a:ea typeface="SUIT" pitchFamily="34" charset="-122"/>
                <a:cs typeface="SUIT" pitchFamily="34" charset="-120"/>
              </a:rPr>
              <a:t> What question do you expect from the floor?</a:t>
            </a:r>
            <a:endParaRPr lang="en-US" sz="1300" dirty="0"/>
          </a:p>
        </p:txBody>
      </p:sp>
      <p:sp>
        <p:nvSpPr>
          <p:cNvPr id="20" name="Shape 20"/>
          <p:cNvSpPr/>
          <p:nvPr/>
        </p:nvSpPr>
        <p:spPr>
          <a:xfrm>
            <a:off x="812800" y="6134100"/>
            <a:ext cx="10566400" cy="349250"/>
          </a:xfrm>
          <a:prstGeom prst="roundRect">
            <a:avLst>
              <a:gd name="adj" fmla="val 25455"/>
            </a:avLst>
          </a:prstGeom>
          <a:solidFill>
            <a:srgbClr val="1F5FEA"/>
          </a:solidFill>
          <a:ln/>
        </p:spPr>
      </p:sp>
      <p:sp>
        <p:nvSpPr>
          <p:cNvPr id="21" name="Text 21"/>
          <p:cNvSpPr/>
          <p:nvPr/>
        </p:nvSpPr>
        <p:spPr>
          <a:xfrm>
            <a:off x="965200" y="6197600"/>
            <a:ext cx="234255"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FFF"/>
                </a:solidFill>
                <a:latin typeface="SUIT" pitchFamily="34" charset="0"/>
                <a:ea typeface="SUIT" pitchFamily="34" charset="-122"/>
                <a:cs typeface="SUIT" pitchFamily="34" charset="-120"/>
              </a:rPr>
              <a:t>A.</a:t>
            </a:r>
            <a:endParaRPr lang="en-US" sz="1300" dirty="0"/>
          </a:p>
        </p:txBody>
      </p:sp>
      <p:sp>
        <p:nvSpPr>
          <p:cNvPr id="22" name="Text 22"/>
          <p:cNvSpPr/>
          <p:nvPr/>
        </p:nvSpPr>
        <p:spPr>
          <a:xfrm>
            <a:off x="1237555" y="6197600"/>
            <a:ext cx="10288922"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FFF"/>
                </a:solidFill>
                <a:latin typeface="SUIT" pitchFamily="34" charset="0"/>
                <a:ea typeface="SUIT" pitchFamily="34" charset="-122"/>
                <a:cs typeface="SUIT" pitchFamily="34" charset="-120"/>
              </a:rPr>
              <a:t>Your answer, in one sentence.</a:t>
            </a:r>
            <a:endParaRPr lang="en-US" sz="1300" dirty="0"/>
          </a:p>
        </p:txBody>
      </p:sp>
      <p:sp>
        <p:nvSpPr>
          <p:cNvPr id="23" name="Text 23"/>
          <p:cNvSpPr/>
          <p:nvPr/>
        </p:nvSpPr>
        <p:spPr>
          <a:xfrm>
            <a:off x="812800" y="6548140"/>
            <a:ext cx="490728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8A93A0"/>
                </a:solidFill>
                <a:latin typeface="SUIT" pitchFamily="34" charset="0"/>
                <a:ea typeface="SUIT" pitchFamily="34" charset="-122"/>
                <a:cs typeface="SUIT" pitchFamily="34" charset="-120"/>
              </a:rPr>
              <a:t>Pair: ________ and ________ · Figure F__ · Practice 3, synthetic data</a:t>
            </a:r>
            <a:endParaRPr lang="en-US" sz="1200" dirty="0"/>
          </a:p>
        </p:txBody>
      </p:sp>
      <p:sp>
        <p:nvSpPr>
          <p:cNvPr id="24" name="Text 24"/>
          <p:cNvSpPr/>
          <p:nvPr/>
        </p:nvSpPr>
        <p:spPr>
          <a:xfrm>
            <a:off x="10601960" y="6548140"/>
            <a:ext cx="777240" cy="208260"/>
          </a:xfrm>
          <a:prstGeom prst="rect">
            <a:avLst/>
          </a:prstGeom>
          <a:noFill/>
          <a:ln/>
        </p:spPr>
        <p:txBody>
          <a:bodyPr wrap="square" lIns="0" tIns="0" rIns="0" bIns="0" rtlCol="0" anchor="t">
            <a:normAutofit/>
          </a:bodyPr>
          <a:lstStyle/>
          <a:p>
            <a:pPr algn="r" indent="0" marL="0">
              <a:lnSpc>
                <a:spcPts val="1440"/>
              </a:lnSpc>
              <a:buNone/>
            </a:pPr>
            <a:r>
              <a:rPr lang="en-US" sz="1200" b="1" dirty="0">
                <a:solidFill>
                  <a:srgbClr val="8A93A0"/>
                </a:solidFill>
                <a:latin typeface="SUIT" pitchFamily="34" charset="0"/>
                <a:ea typeface="SUIT" pitchFamily="34" charset="-122"/>
                <a:cs typeface="SUIT" pitchFamily="34" charset="-120"/>
              </a:rPr>
              <a:t>02 / 2</a:t>
            </a:r>
            <a:endParaRPr lang="en-US" sz="1200" dirty="0"/>
          </a:p>
        </p:txBody>
      </p:sp>
    </p:spTree>
  </p:cSld>
  <p:clrMapOvr>
    <a:masterClrMapping/>
  </p:clrMapOvr>
</p:sld>
</file>

<file path=ppt/theme/theme1.xml><?xml version="1.0" encoding="utf-8"?>
<a:theme xmlns:a="http://schemas.openxmlformats.org/drawingml/2006/main" name="Genomic Data Processing · 10/13 Molecular tools for genomics">
  <a:themeElements>
    <a:clrScheme name="Genomic Data Processing · 10/13 Molecular tools for genomics">
      <a:dk1>
        <a:srgbClr val="17202A"/>
      </a:dk1>
      <a:lt1>
        <a:srgbClr val="FFFFFF"/>
      </a:lt1>
      <a:dk2>
        <a:srgbClr val="51585F"/>
      </a:dk2>
      <a:lt2>
        <a:srgbClr val="E8E9EA"/>
      </a:lt2>
      <a:accent1>
        <a:srgbClr val="1F5FEA"/>
      </a:accent1>
      <a:accent2>
        <a:srgbClr val="B7CEF5"/>
      </a:accent2>
      <a:accent3>
        <a:srgbClr val="173FAF"/>
      </a:accent3>
      <a:accent4>
        <a:srgbClr val="5B6573"/>
      </a:accent4>
      <a:accent5>
        <a:srgbClr val="8A93A0"/>
      </a:accent5>
      <a:accent6>
        <a:srgbClr val="FFF4E5"/>
      </a:accent6>
      <a:hlink>
        <a:srgbClr val="0563C1"/>
      </a:hlink>
      <a:folHlink>
        <a:srgbClr val="954F72"/>
      </a:folHlink>
    </a:clrScheme>
    <a:fontScheme name="Genomic Data Processing · 10/13 Molecular tools for genomics">
      <a:majorFont>
        <a:latin typeface="SU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U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Genomic Data Processing · 10/13 Molecular tools for genomics</dc:title>
  <dc:subject/>
  <dc:creator/>
  <cp:lastModifiedBy/>
  <cp:revision>1</cp:revision>
  <dcterms:created xsi:type="dcterms:W3CDTF">2026-10-13T01:21:33Z</dcterms:created>
  <dcterms:modified xsi:type="dcterms:W3CDTF">2026-10-13T01:21:33Z</dcterms:modified>
</cp:coreProperties>
</file>